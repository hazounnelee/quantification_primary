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54864" cy="6858000"/>
          </a:xfrm>
          <a:prstGeom prst="rect">
            <a:avLst/>
          </a:prstGeom>
          <a:solidFill>
            <a:srgbClr val="2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전구체 입자 형상 자동 정량화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9F5"/>
                </a:solidFill>
                <a:latin typeface="맑은 고딕"/>
              </a:rPr>
              <a:t>SEM 이미지 기반 1차 · 2차 입자 품질 판정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66160"/>
            <a:ext cx="5029200" cy="45720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BDD"/>
                </a:solidFill>
                <a:latin typeface="맑은 고딕"/>
              </a:rPr>
              <a:t>[부서명]  |  [발표자]                                        [날짜]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  / 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2  / 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22960"/>
            <a:ext cx="11548872" cy="877824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822960"/>
            <a:ext cx="594360" cy="87782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932688"/>
            <a:ext cx="29260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6B"/>
                </a:solidFill>
                <a:latin typeface="맑은 고딕"/>
              </a:rPr>
              <a:t>문제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024128"/>
            <a:ext cx="64008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전구체 품질 판정의 필요성 및 정량화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1024128"/>
            <a:ext cx="777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p. 3–4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55648"/>
            <a:ext cx="11548872" cy="87782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755648"/>
            <a:ext cx="594360" cy="87782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865376"/>
            <a:ext cx="29260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6B"/>
                </a:solidFill>
                <a:latin typeface="맑은 고딕"/>
              </a:rPr>
              <a:t>데이터셋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56816"/>
            <a:ext cx="64008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소입경 / 대입경 SEM 이미지 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1956816"/>
            <a:ext cx="777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p.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88336"/>
            <a:ext cx="11548872" cy="877824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688336"/>
            <a:ext cx="594360" cy="87782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798064"/>
            <a:ext cx="29260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6B"/>
                </a:solidFill>
                <a:latin typeface="맑은 고딕"/>
              </a:rPr>
              <a:t>방법론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889504"/>
            <a:ext cx="64008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파이프라인 · SAM2 · LSD · 구현 환경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2889504"/>
            <a:ext cx="777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p. 6–11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21024"/>
            <a:ext cx="11548872" cy="87782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621024"/>
            <a:ext cx="594360" cy="87782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730752"/>
            <a:ext cx="29260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6B"/>
                </a:solidFill>
                <a:latin typeface="맑은 고딕"/>
              </a:rPr>
              <a:t>실험 결과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822192"/>
            <a:ext cx="64008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정성적 / 정량적 결과 · 오류 케이스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3822192"/>
            <a:ext cx="777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p. 12–16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553712"/>
            <a:ext cx="11548872" cy="877824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553712"/>
            <a:ext cx="594360" cy="87782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663440"/>
            <a:ext cx="29260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6B"/>
                </a:solidFill>
                <a:latin typeface="맑은 고딕"/>
              </a:rPr>
              <a:t>향후 계획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754880"/>
            <a:ext cx="64008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미분/깨짐 정량화 · 판상 · SAM2 개선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4754880"/>
            <a:ext cx="777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</a:rPr>
              <a:t>p. 17–18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문제 정의 — 배경 및 필요성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01 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3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전구체(Precursor) 입자 형상은 배터리 용량·수명에 직결되는 핵심 품질 지표입니다.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3749039" cy="5212080"/>
          </a:xfrm>
          <a:prstGeom prst="rect">
            <a:avLst/>
          </a:prstGeom>
          <a:solidFill>
            <a:srgbClr val="FDEBEB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3749039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현행 방식의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874519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수작업 SEM 이미지 분석 → 분석자 편차 존재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수백 장 이미지 처리 시 수 시간 소요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정량적 수치 없이 정성적 판단에 의존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Lot 간 비교·추세 분석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1280160"/>
            <a:ext cx="3749039" cy="5212080"/>
          </a:xfrm>
          <a:prstGeom prst="rect">
            <a:avLst/>
          </a:prstGeom>
          <a:solidFill>
            <a:srgbClr val="D6E4F7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3672" y="1280160"/>
            <a:ext cx="3749039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자동화의 필요성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74519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일관된 기준으로 대량 이미지 자동 처리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형상 지표(구형도, 두께, 종횡비) 수치화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시계열 품질 변화 추적 가능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공정 조건 최적화 피드백 루프 구축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7304" y="1280160"/>
            <a:ext cx="3749039" cy="5212080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7304" y="1280160"/>
            <a:ext cx="3749039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기대 효과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1874519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분석 시간 ○○% 단축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Lot 합격·불합격 기준 객관화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반응 조건 변화에 따른 입자 형상 정량 비교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연구 데이터 DB화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문제 정의 — 정량화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01 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4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본 연구는 SEM 이미지로부터 아래 두 가지 입자 유형에 대한 형상 지표를 자동 추출합니다.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212080" cy="5029200"/>
          </a:xfrm>
          <a:prstGeom prst="rect">
            <a:avLst/>
          </a:prstGeom>
          <a:solidFill>
            <a:srgbClr val="D6E4F7"/>
          </a:solidFill>
          <a:ln w="254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212080" cy="594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</a:rPr>
              <a:t>1차 입자 (대입경 · 소입경 구형 전구체)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▪  구형도 (Sphericity)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    –  Wadell 2D: 4π × area / perimeter²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    –  1.0 = 완전 구형, &lt; 1.0 = 불규칙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▪  등가 직경 (Equivalent Diameter)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    –  2√(area / π)  →  µm 변환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▪  미분 비율 (Fine Particle Ratio)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    –  면적 임계값 미만 fragment 비율 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25880"/>
            <a:ext cx="5212080" cy="5029200"/>
          </a:xfrm>
          <a:prstGeom prst="rect">
            <a:avLst/>
          </a:prstGeom>
          <a:solidFill>
            <a:srgbClr val="FDE8D8"/>
          </a:solidFill>
          <a:ln w="254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25880"/>
            <a:ext cx="5212080" cy="594360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</a:rPr>
              <a:t>2차 입자 (개별 결정 — 침상 검출)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▪  두께 (Thickness)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    –  LSD 수직 프로파일 7샘플 중앙값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    –  µm 변환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▪  장축 (Long Axis)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    –  minAreaRect 장변 길이  →  µm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▪  종횡비 (Aspect Ratio)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    –  두께 / 장축  (0 ~ 1)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B2B2B"/>
                </a:solidFill>
                <a:latin typeface="맑은 고딕"/>
              </a:rPr>
              <a:t>▪  ▷ 판상(Plate) 정량화는 향후 계획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2918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맑은 고딕"/>
              </a:rPr>
              <a:t>측정
기준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데이터셋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02 데이터셋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5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[데이터 경로] 의 전구체 SEM 이미지 데이터셋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261872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입자 유형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배율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해상도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이미지 수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1차 입자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20,000×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2048 × 1636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전처리: 하단 100px 크롭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대입경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1차 입자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3,000×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2048 × 1636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[N]장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2차 입자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결정 침상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20,000×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2048 × 1636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고배율 상세 분석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2차 입자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결정 침상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50,000×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2048 × 1636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[N]장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침상 상세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  <a:latin typeface="맑은 고딕"/>
              </a:rPr>
              <a:t>이미지 전처리 공통 파이프라인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60520"/>
            <a:ext cx="2194560" cy="6583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원본 SEM 이미지
(가변 해상도)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5184" y="431596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4160520"/>
            <a:ext cx="2194560" cy="65836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리사이즈
2048 × 1636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431596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4160520"/>
            <a:ext cx="2194560" cy="65836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하단 100px 크롭
(스케일바 제거)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144" y="431596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4160520"/>
            <a:ext cx="2194560" cy="658368"/>
          </a:xfrm>
          <a:prstGeom prst="rect">
            <a:avLst/>
          </a:prstGeom>
          <a:solidFill>
            <a:srgbClr val="FD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E85D26"/>
                </a:solidFill>
                <a:latin typeface="맑은 고딕"/>
              </a:rPr>
              <a:t>출력: 2048 × 1536
(고정 해상도)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120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맑은 고딕"/>
              </a:rPr>
              <a:t>※ 스케일 기준 (default --preprocess_width 1024):  20k ×  →  74 px = 1 µm     |     50k ×  →  185 px = 1 µm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532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맑은 고딕"/>
              </a:rPr>
              <a:t>※ 이미지 파일명 컨벤션: [IMG_ID]_[seq].[ext]  →  동일 IMG_ID 그룹으로 배치 집계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전체 파이프라인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03 방법론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6  / 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749808"/>
            <a:ext cx="5303520" cy="5669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1차 입자 파이프라인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(secondary_measure.py)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89888"/>
            <a:ext cx="50292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맑은 고딕"/>
              </a:rPr>
              <a:t>SEM 이미지 입력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.0" y="1892808"/>
            <a:ext cx="0.0" cy="164592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5760" y="2057400"/>
            <a:ext cx="5029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전처리 (리사이즈 · 크롭)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360.0" y="2560320"/>
            <a:ext cx="0.0" cy="164592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5760" y="2724912"/>
            <a:ext cx="5029200" cy="502920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ROI 추출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80360.0" y="3227832"/>
            <a:ext cx="0.0" cy="164592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65760" y="3392424"/>
            <a:ext cx="50292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SAM2 타일 추론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Shi-Tomasi 포인트 프롬프트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80360.0" y="4059936"/>
            <a:ext cx="0.0" cy="164592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65760" y="4224528"/>
            <a:ext cx="5029200" cy="667512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마스크 IoU 중복 제거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bbox(0.85) + pixel(0.60)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80360.0" y="4892040"/>
            <a:ext cx="0.0" cy="164592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65760" y="5056632"/>
            <a:ext cx="50292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등가직경 · 구형도 계산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2√(A/π)  |  4πA/P²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80360.0" y="5724144"/>
            <a:ext cx="0.0" cy="164592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5760" y="5888736"/>
            <a:ext cx="5029200" cy="502920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CSV / JSON / 히스토그램 저장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749808"/>
            <a:ext cx="5303520" cy="56692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2차 입자 파이프라인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(primary_measure.py)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389888"/>
            <a:ext cx="5029200" cy="50292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맑은 고딕"/>
              </a:rPr>
              <a:t>SEM 이미지 입력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98280.0" y="1892808"/>
            <a:ext cx="0.0" cy="164592"/>
          </a:xfrm>
          <a:prstGeom prst="line">
            <a:avLst/>
          </a:prstGeom>
          <a:ln w="19050">
            <a:solidFill>
              <a:srgbClr val="E85D2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583680" y="2057400"/>
            <a:ext cx="5029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전처리 (리사이즈 · 크롭)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98280.0" y="2560320"/>
            <a:ext cx="0.0" cy="164592"/>
          </a:xfrm>
          <a:prstGeom prst="line">
            <a:avLst/>
          </a:prstGeom>
          <a:ln w="19050">
            <a:solidFill>
              <a:srgbClr val="E85D2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583680" y="2724912"/>
            <a:ext cx="5029200" cy="502920"/>
          </a:xfrm>
          <a:prstGeom prst="rect">
            <a:avLst/>
          </a:prstGeom>
          <a:solidFill>
            <a:srgbClr val="FDE8D8"/>
          </a:solidFill>
          <a:ln w="127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ROI 추출 / 구 자동 검출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98280.0" y="3227832"/>
            <a:ext cx="0.0" cy="164592"/>
          </a:xfrm>
          <a:prstGeom prst="line">
            <a:avLst/>
          </a:prstGeom>
          <a:ln w="19050">
            <a:solidFill>
              <a:srgbClr val="E85D2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583680" y="3392424"/>
            <a:ext cx="50292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LSD 또는 SAM2 분기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particle_mode에 따라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98280.0" y="4059936"/>
            <a:ext cx="0.0" cy="164592"/>
          </a:xfrm>
          <a:prstGeom prst="line">
            <a:avLst/>
          </a:prstGeom>
          <a:ln w="19050">
            <a:solidFill>
              <a:srgbClr val="E85D2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583680" y="4224528"/>
            <a:ext cx="5029200" cy="667512"/>
          </a:xfrm>
          <a:prstGeom prst="rect">
            <a:avLst/>
          </a:prstGeom>
          <a:solidFill>
            <a:srgbClr val="FDE8D8"/>
          </a:solidFill>
          <a:ln w="127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[LSD]  침상 검출 · 융합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CLAHE → 이진화 → 선분 필터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098280.0" y="4892040"/>
            <a:ext cx="0.0" cy="164592"/>
          </a:xfrm>
          <a:prstGeom prst="line">
            <a:avLst/>
          </a:prstGeom>
          <a:ln w="19050">
            <a:solidFill>
              <a:srgbClr val="E85D2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583680" y="5056632"/>
            <a:ext cx="50292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두께 측정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수직 프로파일 7샘플 중앙값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98280.0" y="5724144"/>
            <a:ext cx="0.0" cy="164592"/>
          </a:xfrm>
          <a:prstGeom prst="line">
            <a:avLst/>
          </a:prstGeom>
          <a:ln w="19050">
            <a:solidFill>
              <a:srgbClr val="E85D2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583680" y="5888736"/>
            <a:ext cx="5029200" cy="502920"/>
          </a:xfrm>
          <a:prstGeom prst="rect">
            <a:avLst/>
          </a:prstGeom>
          <a:solidFill>
            <a:srgbClr val="FDE8D8"/>
          </a:solidFill>
          <a:ln w="127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2B2B2B"/>
                </a:solidFill>
                <a:latin typeface="맑은 고딕"/>
              </a:rPr>
              <a:t>CSV / JSON / 오버레이 저장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777240"/>
            <a:ext cx="292608" cy="5943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3291840"/>
            <a:ext cx="292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맑은 고딕"/>
              </a:rPr>
              <a:t>공통
전처리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SAM2 (Segment Anything Model 2)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03 방법론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7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Meta AI, 2024 — 이미지/비디오 범용 Segmentation 모델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61872"/>
            <a:ext cx="530352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아키텍처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Image Encoder: Hiera (Hierarchical Vision Transformer)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이미지를 다중 해상도 feature map 으로 인코딩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Prompt Encoder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포인트 · 박스 · 마스크 프롬프트를 임베딩으로 변환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Mask Decoder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feature + 프롬프트 임베딩 → 3개 후보 마스크 출력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각 마스크에 confidence score 부여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Memory Module (비디오용)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본 프로젝트에서는 이미지 모드만 사용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61872"/>
            <a:ext cx="5303520" cy="457200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본 프로젝트 적용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10512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타일 기반 추론 (512 × 512, stride 256)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대형 이미지 전체를 타일로 분할 처리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Shi-Tomasi 포인트 샘플링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코너 특징점을 SAM2 포인트 프롬프트로 사용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타일당 최대 80포인트, 배치 크기 32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IoU 기반 마스크 중복 제거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1단계: bbox IoU ≥ 0.85 → 즉시 제거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2단계: pixel IoU ≥ 0.60 → 최종 제거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모델: SAM2.1 Hiera-Base+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61872"/>
            <a:ext cx="137160" cy="51206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침상 검출: LSD vs Hough Transform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03 방법론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8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2차 입자 침상(Acicular) 검출에 LSD를 선택한 이유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61872"/>
          <a:ext cx="115214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46862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비교 항목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Hough Transform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LSD (Line Segment Detector)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선택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알고리즘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파라미터 공간 투표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그라디언트 기반 지지 영역(support region)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LSD ✓</a:t>
                      </a:r>
                    </a:p>
                  </a:txBody>
                  <a:tcPr/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파라미터 의존성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threshold · rho · theta 수동 튜닝 필수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자동 파라미터 — 튜닝 불필요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LSD ✓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검출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무한 직선 (ρ, θ) — 끝점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끝점 좌표 포함 선분 반환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LSD ✓</a:t>
                      </a:r>
                    </a:p>
                  </a:txBody>
                  <a:tcPr/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짧은 선분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단편적 선분 검출 어려움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최소 길이(기본 20px) 이상 선분 직접 검출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LSD ✓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연산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고해상도 이미지에서 느림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선형 시간 복잡도 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LSD ✓</a:t>
                      </a:r>
                    </a:p>
                  </a:txBody>
                  <a:tcPr/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선분 융합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별도 후처리 필요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Union-Find 기반 자체 융합 구현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LSD ✓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68636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OpenCV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cv2.HoughLinesP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cv2.createLineSegmentDetector(0)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120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  <a:latin typeface="맑은 고딕"/>
              </a:rPr>
              <a:t>▷  LSD 중복 제거: 중심 거리 &lt; 12 px  AND  방향각 차이 &lt; 25°  →  짧은 선분 제거 (긴 선분 우선 유지)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577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  <a:latin typeface="맑은 고딕"/>
              </a:rPr>
              <a:t>▷  두께 측정: 각 선분의 수직 방향으로 7개 샘플 → 중앙값(Median)으로 이상치 제거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전처리 · 스케일 캘리브레이션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03 방법론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9  / 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22960"/>
            <a:ext cx="530352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스케일 캘리브레이션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353312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배율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기준 픽셀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기준 거리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µm / pixel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적용 대상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20,000×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147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1 µm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0.00680 µm/px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1차 · 2차 입자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50,000×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371 px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1 µm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0.00269 µm/px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2차 입자 상세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3,000×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 µm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직접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대입경 1차 입자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3291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  <a:latin typeface="맑은 고딕"/>
              </a:rPr>
              <a:t>변환 공식:   length_µm  =  length_px  ×  (scale_µm / scale_px)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822960"/>
            <a:ext cx="5303520" cy="457200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대비 향상 — CLAHE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3716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Contrast Limited Adaptive Histogram Equalization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타일 단위 히스토그램 평활화 → 국소 대비 향상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clip limit 으로 노이즈 증폭 억제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적용 시점: LSD 전처리 단계에서 Gray 이미지에 적용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이진화 방법 (선택 가능)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--lsd_adaptive_thresh OFF (기본) → Otsu 전역 이진화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--lsd_adaptive_thresh ON       → Adaptive Gaussian 이진화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840480"/>
            <a:ext cx="11521440" cy="438912"/>
          </a:xfrm>
          <a:prstGeom prst="rect">
            <a:avLst/>
          </a:prstGeom>
          <a:solidFill>
            <a:srgbClr val="37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이미지 전처리 흐름 (LSD 분기)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70832"/>
            <a:ext cx="1417320" cy="594360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Gray 변환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44805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83664" y="4370832"/>
            <a:ext cx="1417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CLAHE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44805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7288" y="4370832"/>
            <a:ext cx="1417320" cy="594360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이진화
(Otsu/Adaptive +
자동 반전)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44805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10912" y="4370832"/>
            <a:ext cx="1417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LSD 선분 검출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4805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74536" y="4370832"/>
            <a:ext cx="1417320" cy="594360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중복 제거
(dist&lt;12px, Δang&lt;25°)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44805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4370832"/>
            <a:ext cx="1417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두께 측정
(7샘플 중앙값)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64624" y="44805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A6B"/>
                </a:solidFill>
                <a:latin typeface="맑은 고딕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01784" y="4370832"/>
            <a:ext cx="1417320" cy="594360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길이 필터
(--min_length, 선택: --fuse)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구현 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03 방법론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10  / 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22960"/>
            <a:ext cx="539496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소프트웨어 환경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353312"/>
          <a:ext cx="5394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Python 3.11  (conda env: measure)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SAM2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Ultralytics SAM2  —  sam2.1_hiera_base_plus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Computer 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OpenCV 4.x  (LSD, CLAHE, morphology)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수치 연산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NumPy, SciPy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시각화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Matplotlib (histogram, pipeline PDF)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설정 관리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PyYAML  —  configs/presets.yaml · paths.yaml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실행 환경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macOS / Linux  |  CPU 또는 CUDA 선택 가능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0" y="822960"/>
            <a:ext cx="5303520" cy="457200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하드웨어 / 실행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하드웨어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GPU: [사용 GPU 모델]  (SAM2 추론 가속)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RAM: [GB]  |  VRAM: [GB]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1차 입자 분석 실행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python primary_measure.py --input [경로]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  --preset acicular_20k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2차 입자 분석 실행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python secondary_measure.py --input [경로]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  --preset secondary_20k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출력물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03_overlay_roi.png  (2× 업스케일 · 라벨 포함)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    –  objects.csv  |  summary.json  |  histogram.png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754880"/>
            <a:ext cx="5394960" cy="411480"/>
          </a:xfrm>
          <a:prstGeom prst="rect">
            <a:avLst/>
          </a:prstGeom>
          <a:solidFill>
            <a:srgbClr val="37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프로젝트 구조 (주요 모듈)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239512"/>
            <a:ext cx="5394960" cy="2468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2760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6B"/>
                </a:solidFill>
                <a:latin typeface="맑은 고딕"/>
              </a:rPr>
              <a:t>primary_measure.py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527608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2B2B"/>
                </a:solidFill>
                <a:latin typeface="맑은 고딕"/>
              </a:rPr>
              <a:t>1차 입자 CLI 진입점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486400"/>
            <a:ext cx="53949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552297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6B"/>
                </a:solidFill>
                <a:latin typeface="맑은 고딕"/>
              </a:rPr>
              <a:t>secondary_measure.py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552297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2B2B"/>
                </a:solidFill>
                <a:latin typeface="맑은 고딕"/>
              </a:rPr>
              <a:t>2차 입자 CLI 진입점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733288"/>
            <a:ext cx="5394960" cy="2468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76986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6B"/>
                </a:solidFill>
                <a:latin typeface="맑은 고딕"/>
              </a:rPr>
              <a:t>services/sam2_service.py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76986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2B2B"/>
                </a:solidFill>
                <a:latin typeface="맑은 고딕"/>
              </a:rPr>
              <a:t>SAM2 기반 공통 서비스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980176"/>
            <a:ext cx="53949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0167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6B"/>
                </a:solidFill>
                <a:latin typeface="맑은 고딕"/>
              </a:rPr>
              <a:t>services/primary_particle.py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601675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2B2B"/>
                </a:solidFill>
                <a:latin typeface="맑은 고딕"/>
              </a:rPr>
              <a:t>침상 검출 서비스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227064"/>
            <a:ext cx="5394960" cy="2468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2636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6B"/>
                </a:solidFill>
                <a:latin typeface="맑은 고딕"/>
              </a:rPr>
              <a:t>utils/lsd.py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62636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2B2B"/>
                </a:solidFill>
                <a:latin typeface="맑은 고딕"/>
              </a:rPr>
              <a:t>LSD · 두께 측정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473952"/>
            <a:ext cx="53949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3A6B"/>
                </a:solidFill>
                <a:latin typeface="맑은 고딕"/>
              </a:rPr>
              <a:t>utils/image.py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651052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2B2B"/>
                </a:solidFill>
                <a:latin typeface="맑은 고딕"/>
              </a:rPr>
              <a:t>전처리 · 시각화 유틸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1차 입자 분류 로직 (SAM2 기반)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03 방법론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11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SAM2가 출력한 각 마스크를 면적 임계값 기준으로 particle / fragment 로 분류합니다.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298448"/>
            <a:ext cx="3474720" cy="7040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맑은 고딕"/>
              </a:rPr>
              <a:t>SAM2 출력 마스크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맑은 고딕"/>
              </a:rPr>
              <a:t>binary mask per object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002536"/>
            <a:ext cx="0" cy="182880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463040" y="2295144"/>
            <a:ext cx="3474720" cy="704088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최소 마스크 면적
필터 (min_valid_area)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너무 작은 노이즈 제거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2999232"/>
            <a:ext cx="0" cy="182880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463040" y="3291840"/>
            <a:ext cx="3474720" cy="704088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컨투어 추출
(RETR_EXTERNAL)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가장 큰 contour 선택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3995928"/>
            <a:ext cx="0" cy="182880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463040" y="4288536"/>
            <a:ext cx="3474720" cy="704088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ROI 경계 마진
체크 (bbox_edge_margin)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경계 걸친 객체 제외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4992624"/>
            <a:ext cx="0" cy="182880"/>
          </a:xfrm>
          <a:prstGeom prst="line">
            <a:avLst/>
          </a:prstGeom>
          <a:ln w="19050">
            <a:solidFill>
              <a:srgbClr val="88888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463040" y="5285232"/>
            <a:ext cx="3474720" cy="704088"/>
          </a:xfrm>
          <a:prstGeom prst="rect">
            <a:avLst/>
          </a:prstGeom>
          <a:solidFill>
            <a:srgbClr val="D6E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면적 임계값 비교
(particle_area_threshold)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1B3A6B"/>
                </a:solidFill>
                <a:latin typeface="맑은 고딕"/>
              </a:rPr>
              <a:t>기본값: 1500 px²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6281928"/>
            <a:ext cx="3474720" cy="457200"/>
          </a:xfrm>
          <a:prstGeom prst="rect">
            <a:avLst/>
          </a:prstGeom>
          <a:solidFill>
            <a:srgbClr val="37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62819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area ≥ threshold 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-182880" y="6876288"/>
            <a:ext cx="2926080" cy="685800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0">
                <a:solidFill>
                  <a:srgbClr val="1B5E20"/>
                </a:solidFill>
                <a:latin typeface="맑은 고딕"/>
              </a:rPr>
              <a:t>Particle ✓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1B5E20"/>
                </a:solidFill>
                <a:latin typeface="맑은 고딕"/>
              </a:rPr>
              <a:t>구형도 · 등가직경 계산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6876288"/>
            <a:ext cx="2926080" cy="685800"/>
          </a:xfrm>
          <a:prstGeom prst="rect">
            <a:avLst/>
          </a:prstGeom>
          <a:solidFill>
            <a:srgbClr val="FDEBEB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0">
                <a:solidFill>
                  <a:srgbClr val="C62828"/>
                </a:solidFill>
                <a:latin typeface="맑은 고딕"/>
              </a:rPr>
              <a:t>Fragment ✗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C62828"/>
                </a:solidFill>
                <a:latin typeface="맑은 고딕"/>
              </a:rPr>
              <a:t>개수만 집계 (미분 지표)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7574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5E20"/>
                </a:solidFill>
                <a:latin typeface="맑은 고딕"/>
              </a:rP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67574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62828"/>
                </a:solidFill>
                <a:latin typeface="맑은 고딕"/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822960"/>
            <a:ext cx="457200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측정 출력값 (Particle만)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13716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float_eqDiameterUm    등가 직경 (µm)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float_sphericity          구형도 (0 ~ 1)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float_bboxWidthUm / HeightUm    bbox 크기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int_maskArea                 마스크 면적 (px²)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float_confidence            SAM2 신뢰도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str_category                particle / fragment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실험 결과 — 1차 입자 정성적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04 실험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12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SAM2 세그멘테이션 결과 · 등가원 오버레이 시각화 (2× 업스케일, 라벨 표시)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61872"/>
            <a:ext cx="5623560" cy="475488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맑은 고딕"/>
              </a:rPr>
              <a:t>[ 소입경 (20k×) 오버레이 이미지 삽입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61872"/>
            <a:ext cx="562356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소입경 (20k×)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61872"/>
            <a:ext cx="5623560" cy="475488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926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맑은 고딕"/>
              </a:rPr>
              <a:t>[ 대입경 (3k×) 오버레이 이미지 삽입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261872"/>
            <a:ext cx="562356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대입경 (3k×)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1447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초록 마스크: Particle  |  주황 마스크: Fragment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각 particle에 라벨 표시:  d = 등가직경(µm),  S = 구형도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초록 원: 등가직경 기준 원 (--eq_diameter 활성화 시)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실험 결과 — 2차 입자 (침상) 정성적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04 실험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13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LSD 기반 침상 검출 오버레이 · 두께 라벨 시각화 (2× 업스케일)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261872"/>
            <a:ext cx="2743200" cy="329184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원본 ROI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261872"/>
            <a:ext cx="2743200" cy="3840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원본 ROI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261872"/>
            <a:ext cx="2743200" cy="329184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이진화 결과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1261872"/>
            <a:ext cx="2743200" cy="3840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이진화 결과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261872"/>
            <a:ext cx="2743200" cy="329184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LSD 검출 결과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261872"/>
            <a:ext cx="2743200" cy="3840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LSD 검출 결과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261872"/>
            <a:ext cx="2743200" cy="329184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두께 라벨 오버레이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261872"/>
            <a:ext cx="2743200" cy="3840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두께 라벨 오버레이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663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빨강/파랑 선분: 검출된 침상 선분  |  각 선분에 두께(µm) 라벨 표시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ROI 밀도(roi_density): 이진화 이미지 흰 픽셀 비율 — 침상 밀집도 지표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76672"/>
            <a:ext cx="11521440" cy="411480"/>
          </a:xfrm>
          <a:prstGeom prst="rect">
            <a:avLst/>
          </a:prstGeom>
          <a:solidFill>
            <a:srgbClr val="37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LSD 단계별 디버그 이미지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852160"/>
            <a:ext cx="1536192" cy="777240"/>
          </a:xfrm>
          <a:prstGeom prst="rect">
            <a:avLst/>
          </a:prstGeom>
          <a:solidFill>
            <a:srgbClr val="F0F2F5"/>
          </a:solidFill>
          <a:ln w="952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01 Gray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92808" y="5852160"/>
            <a:ext cx="15361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02 CLAHE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65576" y="5852160"/>
            <a:ext cx="1536192" cy="777240"/>
          </a:xfrm>
          <a:prstGeom prst="rect">
            <a:avLst/>
          </a:prstGeom>
          <a:solidFill>
            <a:srgbClr val="F0F2F5"/>
          </a:solidFill>
          <a:ln w="952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03 Binary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8344" y="5852160"/>
            <a:ext cx="15361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04 All LSD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11112" y="5852160"/>
            <a:ext cx="1536192" cy="777240"/>
          </a:xfrm>
          <a:prstGeom prst="rect">
            <a:avLst/>
          </a:prstGeom>
          <a:solidFill>
            <a:srgbClr val="F0F2F5"/>
          </a:solidFill>
          <a:ln w="952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05 Filtered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5852160"/>
            <a:ext cx="15361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06 Fused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56648" y="5852160"/>
            <a:ext cx="1536192" cy="777240"/>
          </a:xfrm>
          <a:prstGeom prst="rect">
            <a:avLst/>
          </a:prstGeom>
          <a:solidFill>
            <a:srgbClr val="F0F2F5"/>
          </a:solidFill>
          <a:ln w="952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0">
                <a:solidFill>
                  <a:srgbClr val="1B3A6B"/>
                </a:solidFill>
                <a:latin typeface="맑은 고딕"/>
              </a:rPr>
              <a:t>07 Thickness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실험 결과 — 정량적 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04 실험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14  / 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22960"/>
            <a:ext cx="1152144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1차 입자 — 구형도 · 등가직경 통계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32588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50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구형도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대입경 구형도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등가직경 (µm)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대입경 등가직경 (µm)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미분 비율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3566160"/>
            <a:ext cx="11521440" cy="438912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2차 입자 — 두께 · 종횡비 통계 (침상)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4069080"/>
          <a:ext cx="11521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86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두께 (µm)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장축 (µm)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소입경 종횡비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[0.XX]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맑은 고딕"/>
              </a:rPr>
              <a:t>※ 히스토그램은 각 출력 폴더의 thickness_histogram.png / size_histogram.png 참조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파라미터 분석 — LSD 핵심 옵션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04 실험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15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주요 LSD 파라미터 변경에 따른 검출 결과 비교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320040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맑은 고딕"/>
              </a:rPr>
              <a:t>--lsd_adaptive_thresh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325880"/>
            <a:ext cx="4114800" cy="182880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OFF (기본값) 결과 이미지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325880"/>
            <a:ext cx="4114800" cy="365760"/>
          </a:xfrm>
          <a:prstGeom prst="rect">
            <a:avLst/>
          </a:prstGeom>
          <a:solidFill>
            <a:srgbClr val="D6E4F7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B3A6B"/>
                </a:solidFill>
                <a:latin typeface="맑은 고딕"/>
              </a:rPr>
              <a:t>OFF (기본값)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4114800" cy="182880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ON 결과 이미지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4114800" cy="365760"/>
          </a:xfrm>
          <a:prstGeom prst="rect">
            <a:avLst/>
          </a:prstGeom>
          <a:solidFill>
            <a:srgbClr val="FDE8D8"/>
          </a:solidFill>
          <a:ln w="1905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E85D26"/>
                </a:solidFill>
                <a:latin typeface="맑은 고딕"/>
              </a:rPr>
              <a:t>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24612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  <a:latin typeface="맑은 고딕"/>
              </a:rPr>
              <a:t>▷  조명 불균일 이미지에서 Adaptive Gaussian 이진화 → 검출률 향상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오류 케이스 — SAM2 세그멘테이션 실패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04 실험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16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SAM2 출력 마스크에서 관찰된 주요 실패 유형 및 원인 분석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61872"/>
            <a:ext cx="3749039" cy="5212080"/>
          </a:xfrm>
          <a:prstGeom prst="rect">
            <a:avLst/>
          </a:prstGeom>
          <a:solidFill>
            <a:srgbClr val="FDEBEB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61872"/>
            <a:ext cx="3749039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과분할 (Over-segmentation)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810512"/>
            <a:ext cx="356616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실패 사례 이미지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5661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맑은 고딕"/>
              </a:rPr>
              <a:t>증상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66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맑은 고딕"/>
              </a:rPr>
              <a:t>단일 입자가 여러 마스크로 분할 검출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40690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맑은 고딕"/>
              </a:rPr>
              <a:t>원인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690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맑은 고딕"/>
              </a:rPr>
              <a:t>포인트 밀도 과다 또는 경계 대비 부족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4663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5E20"/>
                </a:solidFill>
                <a:latin typeface="맑은 고딕"/>
              </a:rPr>
              <a:t>대안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63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맑은 고딕"/>
              </a:rPr>
              <a:t>IoU 임계값 조정 / 포인트 간격 확대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261872"/>
            <a:ext cx="3749039" cy="5212080"/>
          </a:xfrm>
          <a:prstGeom prst="rect">
            <a:avLst/>
          </a:prstGeom>
          <a:solidFill>
            <a:srgbClr val="FDEBEB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1261872"/>
            <a:ext cx="3749039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과통합 (Under-segmentation)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810512"/>
            <a:ext cx="356616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실패 사례 이미지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35661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맑은 고딕"/>
              </a:rPr>
              <a:t>증상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566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맑은 고딕"/>
              </a:rPr>
              <a:t>인접 입자들이 하나의 마스크로 병합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0690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맑은 고딕"/>
              </a:rPr>
              <a:t>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0690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맑은 고딕"/>
              </a:rPr>
              <a:t>입자 간 간격 협소, 대비 낮음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4663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5E20"/>
                </a:solidFill>
                <a:latin typeface="맑은 고딕"/>
              </a:rPr>
              <a:t>대안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663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맑은 고딕"/>
              </a:rPr>
              <a:t>타일 크기 축소 / morphology 후처리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1261872"/>
            <a:ext cx="3749039" cy="5212080"/>
          </a:xfrm>
          <a:prstGeom prst="rect">
            <a:avLst/>
          </a:prstGeom>
          <a:solidFill>
            <a:srgbClr val="FDEBEB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261872"/>
            <a:ext cx="3749039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경계 마스크 제외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1810512"/>
            <a:ext cx="356616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[ 실패 사례 이미지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35661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맑은 고딕"/>
              </a:rPr>
              <a:t>증상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3566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맑은 고딕"/>
              </a:rPr>
              <a:t>ROI 경계에 걸친 입자 측정 불가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40690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맑은 고딕"/>
              </a:rPr>
              <a:t>원인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40690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맑은 고딕"/>
              </a:rPr>
              <a:t>bbox_edge_margin 정책에 의한 의도적 제외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4663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5E20"/>
                </a:solidFill>
                <a:latin typeface="맑은 고딕"/>
              </a:rPr>
              <a:t>대안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4663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맑은 고딕"/>
              </a:rPr>
              <a:t>마진 값 조정 또는 경계 입자 별도 처리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향후 계획 — 1차 입자 (구형 전구체)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05 향후 계획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17  / 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22960"/>
            <a:ext cx="274320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</a:rPr>
              <a:t>현재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SAM2 기반 세그멘테이션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등가직경 · 구형도 자동 산출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미분 비율 (fragment ratio) 집계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소입경 / 대입경 별도 파이프라인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D26"/>
                </a:solidFill>
                <a:latin typeface="맑은 고딕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822960"/>
            <a:ext cx="3749039" cy="5669280"/>
          </a:xfrm>
          <a:prstGeom prst="rect">
            <a:avLst/>
          </a:prstGeom>
          <a:solidFill>
            <a:srgbClr val="FDE8D8"/>
          </a:solidFill>
          <a:ln w="254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822960"/>
            <a:ext cx="3749039" cy="502920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미분/깨짐 세분화 정량화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9" y="1417320"/>
            <a:ext cx="3520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현재 면적 임계값으로만 구분 → 형상 지표(원형도, 장축비) 기반 세분화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깨짐(Crack) 패턴 감지: 컨투어 오목(Concavity) 분석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미분 입자 크기 분포 별도 히스토그램 출력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59" y="822960"/>
            <a:ext cx="3749039" cy="5669280"/>
          </a:xfrm>
          <a:prstGeom prst="rect">
            <a:avLst/>
          </a:prstGeom>
          <a:solidFill>
            <a:srgbClr val="D6E4F7"/>
          </a:solidFill>
          <a:ln w="254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59" y="822960"/>
            <a:ext cx="3749039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반응 조건별 구형도 추세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1417320"/>
            <a:ext cx="3520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반응 시간 / 온도 / pH별 구형도 변화 자동 집계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Lot 간 비교 대시보드 (CSV → 시각화 자동화)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이상 Lot 조기 탐지 알림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91840"/>
            <a:ext cx="2743200" cy="18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88"/>
                </a:solidFill>
                <a:latin typeface="맑은 고딕"/>
              </a:rPr>
              <a:t>장기 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749039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888888"/>
                </a:solidFill>
                <a:latin typeface="맑은 고딕"/>
              </a:rPr>
              <a:t>▪  Lot 품질 DB 연계 → 공정 파라미터 최적화 피드백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888888"/>
                </a:solidFill>
                <a:latin typeface="맑은 고딕"/>
              </a:rPr>
              <a:t>▪  실시간 인라인 측정 시스템 연동 검토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향후 계획 — 2차 입자 (개별 결정)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73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D9F5"/>
                </a:solidFill>
                <a:latin typeface="맑은 고딕"/>
              </a:rPr>
              <a:t>05 향후 계획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18  / 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22960"/>
            <a:ext cx="2743200" cy="457200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</a:rPr>
              <a:t>현재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LSD 기반 침상(Acicular) 검출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두께 · 장축 · 종횡비 측정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선분 융합(Union-Find) 구현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판상(Plate) 미측정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D26"/>
                </a:solidFill>
                <a:latin typeface="맑은 고딕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822960"/>
            <a:ext cx="2606040" cy="5669280"/>
          </a:xfrm>
          <a:prstGeom prst="rect">
            <a:avLst/>
          </a:prstGeom>
          <a:solidFill>
            <a:srgbClr val="FDE8D8"/>
          </a:solidFill>
          <a:ln w="25400">
            <a:solidFill>
              <a:srgbClr val="E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822960"/>
            <a:ext cx="2606040" cy="56692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판상(Plate) 입자 정량화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7" y="1481328"/>
            <a:ext cx="2423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SAM2 + minAreaRect → 판상 두께 · 넓이 측정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판상/침상 자동 분류 기준 정립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혼합 시료(침상+판상) 동시 분석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39" y="822960"/>
            <a:ext cx="2606040" cy="5669280"/>
          </a:xfrm>
          <a:prstGeom prst="rect">
            <a:avLst/>
          </a:prstGeom>
          <a:solidFill>
            <a:srgbClr val="D6E4F7"/>
          </a:solidFill>
          <a:ln w="254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39" y="822960"/>
            <a:ext cx="2606040" cy="5669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SAM2 세그멘테이션 오류 개선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7" y="1481328"/>
            <a:ext cx="2423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Convex Hull 기반 마스크 보정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  → 오목 결함(over-seg) 교정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외접원(Minimum Enclosing Circle) 폴백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  → 마스크 추출 실패 시 대안 크기 추정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추가 후처리: morphology open/close 강화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64039" y="822960"/>
            <a:ext cx="2606040" cy="5669280"/>
          </a:xfrm>
          <a:prstGeom prst="rect">
            <a:avLst/>
          </a:prstGeom>
          <a:solidFill>
            <a:srgbClr val="E8F5E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64039" y="822960"/>
            <a:ext cx="2606040" cy="5669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LSD 파라미터 자동 최적화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7" y="1481328"/>
            <a:ext cx="2423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이미지 밝기·대비에 따른 threshold 자동 조정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Adaptive 이진화 블록 크기 최적화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B2B2B"/>
                </a:solidFill>
                <a:latin typeface="맑은 고딕"/>
              </a:rPr>
              <a:t>▪  배율별 최소 선분 길이 자동 캘리브레이션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02552"/>
            <a:ext cx="12188952" cy="182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19  /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맑은 고딕"/>
              </a:rPr>
              <a:t>전구체 입자 형상 자동 정량화 시스템 핵심 성과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5669280" cy="224028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566928" cy="2240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813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6B"/>
                </a:solidFill>
                <a:latin typeface="맑은 고딕"/>
              </a:rPr>
              <a:t>통합 파이프라인 구축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84248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1차 입자(SAM2) · 2차 입자(LSD+SAM2) 파이프라인을
단일 코드베이스로 통합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5669280" cy="224028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298448"/>
            <a:ext cx="566928" cy="2240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813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6B"/>
                </a:solidFill>
                <a:latin typeface="맑은 고딕"/>
              </a:rPr>
              <a:t>핵심 정량화 지표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984248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1차: 구형도 · 등가직경 · 미분비율
2차: 두께 · 장축 · 종횡비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21608"/>
            <a:ext cx="5669280" cy="224028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721608"/>
            <a:ext cx="566928" cy="2240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044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6B"/>
                </a:solidFill>
                <a:latin typeface="맑은 고딕"/>
              </a:rPr>
              <a:t>LSD 선택 및 개선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07408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Hough 대비 파라미터 불필요, 끝점 포함
Union-Find 선분 융합으로 정확도 향상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721608"/>
            <a:ext cx="5669280" cy="2240280"/>
          </a:xfrm>
          <a:prstGeom prst="rect">
            <a:avLst/>
          </a:prstGeom>
          <a:solidFill>
            <a:srgbClr val="F0F2F5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721608"/>
            <a:ext cx="566928" cy="2240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9044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6B"/>
                </a:solidFill>
                <a:latin typeface="맑은 고딕"/>
              </a:rPr>
              <a:t>확장성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407408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맑은 고딕"/>
              </a:rPr>
              <a:t>배율별 preset · paths.yaml 설정 파일
CLI 인자로 모든 파라미터 제어 가능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6291072"/>
            <a:ext cx="11548872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309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GitHub:  hazounnelee / measure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37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41148"/>
          </a:xfrm>
          <a:prstGeom prst="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Appendix  —  반응 시간에 따른 입도(등가직경) 증가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6751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20  /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맑은 고딕"/>
              </a:rPr>
              <a:t>2차 입자(1차 전구체 구형체) 합성 시간에 따른 입자 크기 변화 측정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713232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맑은 고딕"/>
              </a:rPr>
              <a:t>[ 반응 시간 vs 등가직경 그래프 삽입
  X축: 반응 시간 (h),  Y축: 등가직경 (µm) ]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1261872"/>
            <a:ext cx="4206240" cy="457200"/>
          </a:xfrm>
          <a:prstGeom prst="rect">
            <a:avLst/>
          </a:prstGeom>
          <a:solidFill>
            <a:srgbClr val="37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맑은 고딕"/>
              </a:rPr>
              <a:t>시간별 입도 통계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35240" y="1783080"/>
          <a:ext cx="4206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반응 시간 (h)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Mean (µm)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[T1]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[T2]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[T3]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[T4]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[T5]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[X.XX]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35240" y="4206240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반응 시간 증가에 따라 등가직경 단조 증가 관측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T[N] 이후 성장 둔화 → 포화 구간 확인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B2B2B"/>
                </a:solidFill>
                <a:latin typeface="맑은 고딕"/>
              </a:rPr>
              <a:t>▪  Lot 간 동일 시간에서의 입도 편차 분석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